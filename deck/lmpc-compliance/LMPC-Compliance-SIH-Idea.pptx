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LMPC Compliance Engine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Photograph a package; receive a deterministic, legally traceable finding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Legal Metrology officers manually inspect small declarations spread across every package surface; a missing photograph can be mistaken for a missing declaration, and an un-updated base PDF can be out of date.</a:t>
            </a: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Guided multi-panel capture (camera or gallery, offline-resilient) feeds OCR and layout analysis; a deterministic rule engine issues a legally traceable finding citing the exact gazette clause.</a:t>
            </a: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Six verdict states (PASS, FAIL, INDETERMINATE, NOT APPLICABLE, REVIEW, SYSTEM ERROR): “could not read” never becomes “missing” until the officer asserts full surface coverage.</a:t>
            </a: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Applicability gates run before declaration checks, so exempt packages are never accused.</a:t>
            </a: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The law itself is compiled offline from 48 gazette instruments into a human-reviewed, versioned, SHA-256 rulepack.</a:t>
            </a: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No LLM makes compliance decisions — ordinary, auditable Python rules; officer corrections are append-only and attributed.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LMPC Compliance Engine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l">
              <a:buFont typeface="Arial"/>
              <a:buChar char="•"/>
            </a:pPr>
            <a:r>
              <a:rPr sz="1300">
                <a:solidFill>
                  <a:srgbClr val="1F497D"/>
                </a:solidFill>
                <a:latin typeface="Arial"/>
              </a:rPr>
              <a:t>Lane 1 (offline): gazette PDFs → law compiler → versioned, dated, SHA-256 rulepack — 48 instruments across 3 rule families (2011–2026).</a:t>
            </a:r>
          </a:p>
          <a:p>
            <a:pPr marL="342900" indent="-342900" algn="l">
              <a:buFont typeface="Arial"/>
              <a:buChar char="•"/>
            </a:pPr>
            <a:r>
              <a:rPr sz="1300">
                <a:solidFill>
                  <a:srgbClr val="1F497D"/>
                </a:solidFill>
                <a:latin typeface="Arial"/>
              </a:rPr>
              <a:t>Lane 2 (per scan): guided photos → quality gates → OCR → layout/extraction → rule engine → six-state verdicts.</a:t>
            </a:r>
          </a:p>
          <a:p>
            <a:pPr marL="342900" indent="-342900" algn="l">
              <a:buFont typeface="Arial"/>
              <a:buChar char="•"/>
            </a:pPr>
            <a:r>
              <a:rPr sz="1300">
                <a:solidFill>
                  <a:srgbClr val="1F497D"/>
                </a:solidFill>
                <a:latin typeface="Arial"/>
              </a:rPr>
              <a:t>One FastAPI service (localhost-capable) with PostgreSQL or a built-in local store, immutable local object storage, and optional S3.</a:t>
            </a:r>
          </a:p>
          <a:p>
            <a:pPr marL="342900" indent="-342900" algn="l">
              <a:buFont typeface="Arial"/>
              <a:buChar char="•"/>
            </a:pPr>
            <a:r>
              <a:rPr sz="1300">
                <a:solidFill>
                  <a:srgbClr val="1F497D"/>
                </a:solidFill>
                <a:latin typeface="Arial"/>
              </a:rPr>
              <a:t>Clients: installable capture PWA, Android Field app (offline outbox with idempotent resumable sync), and a Next.js officer review workbench.</a:t>
            </a:r>
          </a:p>
          <a:p>
            <a:pPr marL="342900" indent="-342900" algn="l">
              <a:buFont typeface="Arial"/>
              <a:buChar char="•"/>
            </a:pPr>
            <a:r>
              <a:rPr sz="1300">
                <a:solidFill>
                  <a:srgbClr val="1F497D"/>
                </a:solidFill>
                <a:latin typeface="Arial"/>
              </a:rPr>
              <a:t>Millimetre checks use an ISO ID-1 card as scale reference: corner marks → image-to-millimetre homography → panel dimensions in cm; mis-marked quads are refused and the engine abstains rather than guessing.</a:t>
            </a:r>
          </a:p>
          <a:p>
            <a:pPr marL="342900" indent="-342900" algn="l">
              <a:buFont typeface="Arial"/>
              <a:buChar char="•"/>
            </a:pPr>
            <a:r>
              <a:rPr sz="1300">
                <a:solidFill>
                  <a:srgbClr val="1F497D"/>
                </a:solidFill>
                <a:latin typeface="Arial"/>
              </a:rPr>
              <a:t>E-commerce listings are checked under Rule 6(10) from shopper-visible listing text plus up to six screenshots.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LMPC Compliance Engine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Runs today on a laptop: portable Windows EXE for demos, or PostgreSQL plus local object storage for durable use — no S3 dependency.</a:t>
            </a: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Speed: 1.6 seconds per panel on ordinary CPU at the tested 1800 px cap.</a:t>
            </a: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Risk: extraction recall (~50%). Mitigation: a dedicated server workstream with a ≥90% target — meanwhile the engine abstains (INDETERMINATE) instead of guessing.</a:t>
            </a: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Risk: real-device milestone gates (install, LAN pairing, airplane-mode capture, low storage) are still open. Mitigation: CI-built portable EXE and APK already published for device drills.</a:t>
            </a: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Production legal use requires qualified officer sign-off; the workbench supports corrections, re-evaluation, and reasoned overrides.</a:t>
            </a: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Deployment path: run now → controlled pilot → scale.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LMPC Compliance Engine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Beneficiaries: Legal Metrology officers, consumers, compliant brands, and MSMEs.</a:t>
            </a: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Validated on 140 real products (food, cosmetics, household, pet food) with 403 photographs and 2,700 rule evaluations.</a:t>
            </a: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0 false accusations and 0 known violations silently passed in the recorded campaign; 20 defects found and fixed through adversarial testing.</a:t>
            </a: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Every finding retains the rulepack version, authority citation, evidence hash, and evaluation history.</a:t>
            </a: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Immutable local object storage with exportable signed PDF and DOCX reports.</a:t>
            </a: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The system answers confidently to roughly 10% character error, then stops answering rather than guessing.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LMPC Compliance Engine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Legal Metrology (Packaged Commodities) Rules, 2011 — compiled from 48 gazette instruments across 3 rule families (2011–2026).</a:t>
            </a: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Rule 6(10): online display of packaged commodities — the e-commerce listing checks.</a:t>
            </a: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Rule 7(2): MRP font-height minimum — enforced with perspective-corrected measurement from an ISO ID-1 scale reference.</a:t>
            </a: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Repository and evidence: github.com/akshajtiwari/lmpc-compliance-engine (README.md, docs/, docs/evidence/).</a:t>
            </a:r>
          </a:p>
          <a:p>
            <a:pPr marL="342900" indent="-342900" algn="l">
              <a:buFont typeface="Arial"/>
              <a:buChar char="•"/>
            </a:pPr>
            <a:r>
              <a:rPr sz="1600">
                <a:solidFill>
                  <a:srgbClr val="1F497D"/>
                </a:solidFill>
                <a:latin typeface="Arial"/>
              </a:rPr>
              <a:t>Preview release: v0.3.0-preview — portable Windows server and Android Field app, both published with SHA-256 checksums.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LMPC Compliance Engine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